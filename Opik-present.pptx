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2" d="100"/>
          <a:sy n="82" d="100"/>
        </p:scale>
        <p:origin x="720"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32733-C45E-AA61-7D5F-808B175E20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616F3B-56BF-3DCB-1A43-B9DB0A8C32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D78BE8-61E8-B608-7D32-40E9DE6F8513}"/>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5" name="Footer Placeholder 4">
            <a:extLst>
              <a:ext uri="{FF2B5EF4-FFF2-40B4-BE49-F238E27FC236}">
                <a16:creationId xmlns:a16="http://schemas.microsoft.com/office/drawing/2014/main" id="{71AE7900-D7A9-2341-E3CE-EC0F627FBC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6676B7-4F8C-4F00-3D68-4F78DA1A3BCD}"/>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3702530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73BAA-FF90-09E8-65C6-1C9D8EC222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C901CF-22A9-2340-3F54-235FD83127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EC1D9F-C80C-959D-947C-8EF92FE3CBFA}"/>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5" name="Footer Placeholder 4">
            <a:extLst>
              <a:ext uri="{FF2B5EF4-FFF2-40B4-BE49-F238E27FC236}">
                <a16:creationId xmlns:a16="http://schemas.microsoft.com/office/drawing/2014/main" id="{F2380FF8-E26C-315A-4A60-B3076D7D4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CEFFEE-A968-E8C5-5E00-DD9926F6F5F0}"/>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2892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70A8D-992D-4A4E-7C18-05A432807A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1F418B-97AD-A129-AB47-C8C9D6D3B4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3E33FD-5863-37FF-81BE-53FF85C6579C}"/>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5" name="Footer Placeholder 4">
            <a:extLst>
              <a:ext uri="{FF2B5EF4-FFF2-40B4-BE49-F238E27FC236}">
                <a16:creationId xmlns:a16="http://schemas.microsoft.com/office/drawing/2014/main" id="{7B9176F9-524A-B0B8-61CB-B2CADE055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59F2E-34D1-45E1-7B79-54307AE7B52A}"/>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3337557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B099D-CC17-F48C-9A8A-EE397B6AB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E31927-3A24-600D-0C2F-4574B8936B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33A104-1695-B829-F004-CF1BF4D8EE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F8EB35-61F9-773E-A8AA-C07C86E5CF5A}"/>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6" name="Footer Placeholder 5">
            <a:extLst>
              <a:ext uri="{FF2B5EF4-FFF2-40B4-BE49-F238E27FC236}">
                <a16:creationId xmlns:a16="http://schemas.microsoft.com/office/drawing/2014/main" id="{304CE90A-14BA-D236-019D-7A4C78E981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FA8931-1D3E-72DF-0D04-680576B28590}"/>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2732251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3C3D4-F2E0-1F52-22BA-E212D0558A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851D82-43D3-16A4-E027-0F614CF2FE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396C5A-0593-C47C-0CF4-DE03FFFBC2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02FCD9-978C-8C9A-85B9-A203FF42D3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EC5E2B-F9FE-297D-09EC-661026D135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B9ACF7-CAC5-AC37-383E-D7F64EEE6BC0}"/>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8" name="Footer Placeholder 7">
            <a:extLst>
              <a:ext uri="{FF2B5EF4-FFF2-40B4-BE49-F238E27FC236}">
                <a16:creationId xmlns:a16="http://schemas.microsoft.com/office/drawing/2014/main" id="{156C3A15-724C-AAFB-B716-7C3DC6451A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512E10-2654-6EAB-02D4-8D19F9B66AFD}"/>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3435539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216F9-E92B-C522-D414-1153F77C29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4950E0-5BA5-E07D-5870-AA9C13B078C4}"/>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4" name="Footer Placeholder 3">
            <a:extLst>
              <a:ext uri="{FF2B5EF4-FFF2-40B4-BE49-F238E27FC236}">
                <a16:creationId xmlns:a16="http://schemas.microsoft.com/office/drawing/2014/main" id="{8AB39444-E407-4289-4D54-AE77D12813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468311-4411-2F6A-799E-AF94910236CB}"/>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571090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349093-5387-7B15-1166-F138EF547896}"/>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3" name="Footer Placeholder 2">
            <a:extLst>
              <a:ext uri="{FF2B5EF4-FFF2-40B4-BE49-F238E27FC236}">
                <a16:creationId xmlns:a16="http://schemas.microsoft.com/office/drawing/2014/main" id="{46727158-340B-6BB0-99D0-FC701DC074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9CCF41-9A09-9F28-3BC5-7E8A1925F4B4}"/>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876843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66E0C-9A9A-D053-6C83-12CC95774B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62DD8C-01E9-DAFE-F922-C89F66F592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003785-E412-B95F-B651-6AE1165D00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4CD088-01B7-5084-F96D-5C8A3BE317A4}"/>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6" name="Footer Placeholder 5">
            <a:extLst>
              <a:ext uri="{FF2B5EF4-FFF2-40B4-BE49-F238E27FC236}">
                <a16:creationId xmlns:a16="http://schemas.microsoft.com/office/drawing/2014/main" id="{83A9982E-85D6-98DB-1CC9-3BFCBFDDD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0739CE-C06A-3EC7-F5E9-255055B9A567}"/>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62388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104A-E93A-366B-D504-006815CFA1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98702B-E5CB-1DA2-5635-AAC613020B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EC5188-4811-D425-C823-FF065FC4B9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40C10A-8B43-4517-FADC-12D322BD324E}"/>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6" name="Footer Placeholder 5">
            <a:extLst>
              <a:ext uri="{FF2B5EF4-FFF2-40B4-BE49-F238E27FC236}">
                <a16:creationId xmlns:a16="http://schemas.microsoft.com/office/drawing/2014/main" id="{8DA64648-D338-C97F-8C8E-7777777F72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2F56A4-4EF3-F39E-0AE0-94766EF166A9}"/>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2490200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2E372-9E18-676C-A8BF-DC33E0FF90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F63DA8-40E8-FEE4-F829-C33607B502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7B4CC4-4447-A37C-5DDA-E3FDC95B25C8}"/>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5" name="Footer Placeholder 4">
            <a:extLst>
              <a:ext uri="{FF2B5EF4-FFF2-40B4-BE49-F238E27FC236}">
                <a16:creationId xmlns:a16="http://schemas.microsoft.com/office/drawing/2014/main" id="{2073CCFA-62CA-1DD9-8CE1-8770B3A44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CD4290-1D7D-50BA-2432-5893159A318F}"/>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273128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0B42F5-29F0-5B30-6AED-4E7FEC5725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01DC90-1AFE-9129-1A66-95383C4A4B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2BDB1-1EA8-9385-B82B-3E1D828D3879}"/>
              </a:ext>
            </a:extLst>
          </p:cNvPr>
          <p:cNvSpPr>
            <a:spLocks noGrp="1"/>
          </p:cNvSpPr>
          <p:nvPr>
            <p:ph type="dt" sz="half" idx="10"/>
          </p:nvPr>
        </p:nvSpPr>
        <p:spPr/>
        <p:txBody>
          <a:bodyPr/>
          <a:lstStyle/>
          <a:p>
            <a:fld id="{C9095CCC-9848-4048-BBCC-96D7B45B6891}" type="datetimeFigureOut">
              <a:rPr lang="en-US" smtClean="0"/>
              <a:t>8/13/2025</a:t>
            </a:fld>
            <a:endParaRPr lang="en-US"/>
          </a:p>
        </p:txBody>
      </p:sp>
      <p:sp>
        <p:nvSpPr>
          <p:cNvPr id="5" name="Footer Placeholder 4">
            <a:extLst>
              <a:ext uri="{FF2B5EF4-FFF2-40B4-BE49-F238E27FC236}">
                <a16:creationId xmlns:a16="http://schemas.microsoft.com/office/drawing/2014/main" id="{4780871C-F2CB-40EC-9698-1F7358B8D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EF09B3-87DF-E8FD-263E-B62A8C8FF1DD}"/>
              </a:ext>
            </a:extLst>
          </p:cNvPr>
          <p:cNvSpPr>
            <a:spLocks noGrp="1"/>
          </p:cNvSpPr>
          <p:nvPr>
            <p:ph type="sldNum" sz="quarter" idx="12"/>
          </p:nvPr>
        </p:nvSpPr>
        <p:spPr/>
        <p:txBody>
          <a:bodyPr/>
          <a:lstStyle/>
          <a:p>
            <a:fld id="{552CE709-DB4B-4786-B89B-F6710986E571}" type="slidenum">
              <a:rPr lang="en-US" smtClean="0"/>
              <a:t>‹#›</a:t>
            </a:fld>
            <a:endParaRPr lang="en-US"/>
          </a:p>
        </p:txBody>
      </p:sp>
    </p:spTree>
    <p:extLst>
      <p:ext uri="{BB962C8B-B14F-4D97-AF65-F5344CB8AC3E}">
        <p14:creationId xmlns:p14="http://schemas.microsoft.com/office/powerpoint/2010/main" val="1978069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80E672-825E-D438-8D1A-0B42C1EB27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72F94F-925E-F8D9-2208-3B78249D48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7CEFF4-5DCF-A186-853A-E8F9C93E8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095CCC-9848-4048-BBCC-96D7B45B6891}" type="datetimeFigureOut">
              <a:rPr lang="en-US" smtClean="0"/>
              <a:t>8/13/2025</a:t>
            </a:fld>
            <a:endParaRPr lang="en-US"/>
          </a:p>
        </p:txBody>
      </p:sp>
      <p:sp>
        <p:nvSpPr>
          <p:cNvPr id="5" name="Footer Placeholder 4">
            <a:extLst>
              <a:ext uri="{FF2B5EF4-FFF2-40B4-BE49-F238E27FC236}">
                <a16:creationId xmlns:a16="http://schemas.microsoft.com/office/drawing/2014/main" id="{4646E628-E38A-F2E2-18C7-26593C322F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60951B7-5023-E046-CECD-DA06DA4C73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2CE709-DB4B-4786-B89B-F6710986E571}" type="slidenum">
              <a:rPr lang="en-US" smtClean="0"/>
              <a:t>‹#›</a:t>
            </a:fld>
            <a:endParaRPr lang="en-US"/>
          </a:p>
        </p:txBody>
      </p:sp>
    </p:spTree>
    <p:extLst>
      <p:ext uri="{BB962C8B-B14F-4D97-AF65-F5344CB8AC3E}">
        <p14:creationId xmlns:p14="http://schemas.microsoft.com/office/powerpoint/2010/main" val="2911793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3599D0-DA53-3211-55F2-5EFC7ED61C9E}"/>
              </a:ext>
            </a:extLst>
          </p:cNvPr>
          <p:cNvSpPr txBox="1"/>
          <p:nvPr/>
        </p:nvSpPr>
        <p:spPr>
          <a:xfrm>
            <a:off x="2580132" y="2039112"/>
            <a:ext cx="7031736" cy="461665"/>
          </a:xfrm>
          <a:prstGeom prst="rect">
            <a:avLst/>
          </a:prstGeom>
          <a:noFill/>
        </p:spPr>
        <p:txBody>
          <a:bodyPr wrap="square" rtlCol="0">
            <a:spAutoFit/>
          </a:bodyPr>
          <a:lstStyle/>
          <a:p>
            <a:pPr algn="ctr"/>
            <a:r>
              <a:rPr lang="en-US" sz="2400">
                <a:latin typeface="Aharoni" panose="020F0502020204030204" pitchFamily="2" charset="-79"/>
                <a:cs typeface="Aharoni" panose="020F0502020204030204" pitchFamily="2" charset="-79"/>
              </a:rPr>
              <a:t>LLM Evaluation Metrics</a:t>
            </a:r>
          </a:p>
        </p:txBody>
      </p:sp>
      <p:sp>
        <p:nvSpPr>
          <p:cNvPr id="5" name="TextBox 4">
            <a:extLst>
              <a:ext uri="{FF2B5EF4-FFF2-40B4-BE49-F238E27FC236}">
                <a16:creationId xmlns:a16="http://schemas.microsoft.com/office/drawing/2014/main" id="{6792D013-9896-4A21-B7E3-AB43C85B1D79}"/>
              </a:ext>
            </a:extLst>
          </p:cNvPr>
          <p:cNvSpPr txBox="1"/>
          <p:nvPr/>
        </p:nvSpPr>
        <p:spPr>
          <a:xfrm>
            <a:off x="2580132" y="2950464"/>
            <a:ext cx="7031736" cy="400110"/>
          </a:xfrm>
          <a:prstGeom prst="rect">
            <a:avLst/>
          </a:prstGeom>
          <a:noFill/>
        </p:spPr>
        <p:txBody>
          <a:bodyPr wrap="square" rtlCol="0">
            <a:spAutoFit/>
          </a:bodyPr>
          <a:lstStyle/>
          <a:p>
            <a:pPr algn="ctr"/>
            <a:r>
              <a:rPr lang="en-US" sz="2000">
                <a:cs typeface="Aharoni" panose="020F0502020204030204" pitchFamily="2" charset="-79"/>
              </a:rPr>
              <a:t>NMT Teams</a:t>
            </a:r>
          </a:p>
        </p:txBody>
      </p:sp>
    </p:spTree>
    <p:extLst>
      <p:ext uri="{BB962C8B-B14F-4D97-AF65-F5344CB8AC3E}">
        <p14:creationId xmlns:p14="http://schemas.microsoft.com/office/powerpoint/2010/main" val="780799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4529-97AA-D930-58B0-A02EE7C3138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8FDB7C-72C2-460A-3CEC-D4344188327A}"/>
              </a:ext>
            </a:extLst>
          </p:cNvPr>
          <p:cNvSpPr txBox="1"/>
          <p:nvPr/>
        </p:nvSpPr>
        <p:spPr>
          <a:xfrm>
            <a:off x="970788" y="2218944"/>
            <a:ext cx="7031736" cy="400110"/>
          </a:xfrm>
          <a:prstGeom prst="rect">
            <a:avLst/>
          </a:prstGeom>
          <a:noFill/>
        </p:spPr>
        <p:txBody>
          <a:bodyPr wrap="square" rtlCol="0">
            <a:spAutoFit/>
          </a:bodyPr>
          <a:lstStyle/>
          <a:p>
            <a:pPr marL="342900" indent="-342900">
              <a:buFont typeface="Arial" panose="020B0604020202020204" pitchFamily="34" charset="0"/>
              <a:buChar char="•"/>
            </a:pPr>
            <a:r>
              <a:rPr lang="en-US" sz="2000">
                <a:cs typeface="Aharoni" panose="020F0502020204030204" pitchFamily="2" charset="-79"/>
              </a:rPr>
              <a:t>Opik(COMET) metrics</a:t>
            </a:r>
          </a:p>
        </p:txBody>
      </p:sp>
      <p:sp>
        <p:nvSpPr>
          <p:cNvPr id="2" name="TextBox 1">
            <a:extLst>
              <a:ext uri="{FF2B5EF4-FFF2-40B4-BE49-F238E27FC236}">
                <a16:creationId xmlns:a16="http://schemas.microsoft.com/office/drawing/2014/main" id="{E1931A69-B9E0-BC10-4DE1-B6F4390564DC}"/>
              </a:ext>
            </a:extLst>
          </p:cNvPr>
          <p:cNvSpPr txBox="1"/>
          <p:nvPr/>
        </p:nvSpPr>
        <p:spPr>
          <a:xfrm>
            <a:off x="970788" y="3194304"/>
            <a:ext cx="7031736" cy="400110"/>
          </a:xfrm>
          <a:prstGeom prst="rect">
            <a:avLst/>
          </a:prstGeom>
          <a:noFill/>
        </p:spPr>
        <p:txBody>
          <a:bodyPr wrap="square" rtlCol="0">
            <a:spAutoFit/>
          </a:bodyPr>
          <a:lstStyle/>
          <a:p>
            <a:pPr marL="342900" indent="-342900">
              <a:buFont typeface="Arial" panose="020B0604020202020204" pitchFamily="34" charset="0"/>
              <a:buChar char="•"/>
            </a:pPr>
            <a:r>
              <a:rPr lang="en-US" sz="2000">
                <a:cs typeface="Aharoni" panose="020F0502020204030204" pitchFamily="2" charset="-79"/>
              </a:rPr>
              <a:t>How to apply to project?</a:t>
            </a:r>
          </a:p>
        </p:txBody>
      </p:sp>
    </p:spTree>
    <p:extLst>
      <p:ext uri="{BB962C8B-B14F-4D97-AF65-F5344CB8AC3E}">
        <p14:creationId xmlns:p14="http://schemas.microsoft.com/office/powerpoint/2010/main" val="1193032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93EF5-A2C0-2E74-3AE1-DACFBD424F3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FB6CF26-4C2D-63CF-AFE0-F486C250E744}"/>
              </a:ext>
            </a:extLst>
          </p:cNvPr>
          <p:cNvSpPr/>
          <p:nvPr/>
        </p:nvSpPr>
        <p:spPr>
          <a:xfrm>
            <a:off x="329184" y="232059"/>
            <a:ext cx="2816352" cy="6309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22DF304F-E689-A665-48E6-DE648F109768}"/>
              </a:ext>
            </a:extLst>
          </p:cNvPr>
          <p:cNvSpPr txBox="1"/>
          <p:nvPr/>
        </p:nvSpPr>
        <p:spPr>
          <a:xfrm>
            <a:off x="475488" y="347472"/>
            <a:ext cx="7031736" cy="400110"/>
          </a:xfrm>
          <a:prstGeom prst="rect">
            <a:avLst/>
          </a:prstGeom>
          <a:noFill/>
        </p:spPr>
        <p:txBody>
          <a:bodyPr wrap="square" rtlCol="0">
            <a:spAutoFit/>
          </a:bodyPr>
          <a:lstStyle/>
          <a:p>
            <a:r>
              <a:rPr lang="en-US" sz="2000">
                <a:cs typeface="Aharoni" panose="020F0502020204030204" pitchFamily="2" charset="-79"/>
              </a:rPr>
              <a:t>Opik(COMET) metrics</a:t>
            </a:r>
          </a:p>
        </p:txBody>
      </p:sp>
      <p:sp>
        <p:nvSpPr>
          <p:cNvPr id="2" name="TextBox 1">
            <a:extLst>
              <a:ext uri="{FF2B5EF4-FFF2-40B4-BE49-F238E27FC236}">
                <a16:creationId xmlns:a16="http://schemas.microsoft.com/office/drawing/2014/main" id="{5A55B9F2-0921-F7B6-C4C7-D903CC0ABA4B}"/>
              </a:ext>
            </a:extLst>
          </p:cNvPr>
          <p:cNvSpPr txBox="1"/>
          <p:nvPr/>
        </p:nvSpPr>
        <p:spPr>
          <a:xfrm>
            <a:off x="329184" y="1301496"/>
            <a:ext cx="7031736" cy="369332"/>
          </a:xfrm>
          <a:prstGeom prst="rect">
            <a:avLst/>
          </a:prstGeom>
          <a:noFill/>
        </p:spPr>
        <p:txBody>
          <a:bodyPr wrap="square" rtlCol="0">
            <a:spAutoFit/>
          </a:bodyPr>
          <a:lstStyle/>
          <a:p>
            <a:pPr marL="342900" indent="-342900">
              <a:buFont typeface="Arial" panose="020B0604020202020204" pitchFamily="34" charset="0"/>
              <a:buChar char="•"/>
            </a:pPr>
            <a:r>
              <a:rPr lang="en-US">
                <a:cs typeface="Aharoni" panose="020F0502020204030204" pitchFamily="2" charset="-79"/>
              </a:rPr>
              <a:t>Open source by COMET</a:t>
            </a:r>
          </a:p>
        </p:txBody>
      </p:sp>
      <p:sp>
        <p:nvSpPr>
          <p:cNvPr id="4" name="TextBox 3">
            <a:extLst>
              <a:ext uri="{FF2B5EF4-FFF2-40B4-BE49-F238E27FC236}">
                <a16:creationId xmlns:a16="http://schemas.microsoft.com/office/drawing/2014/main" id="{4FBC7E11-40CA-D538-51AA-E21D0F77B334}"/>
              </a:ext>
            </a:extLst>
          </p:cNvPr>
          <p:cNvSpPr txBox="1"/>
          <p:nvPr/>
        </p:nvSpPr>
        <p:spPr>
          <a:xfrm>
            <a:off x="329184" y="1924663"/>
            <a:ext cx="8247888" cy="646331"/>
          </a:xfrm>
          <a:prstGeom prst="rect">
            <a:avLst/>
          </a:prstGeom>
          <a:noFill/>
        </p:spPr>
        <p:txBody>
          <a:bodyPr wrap="square" rtlCol="0">
            <a:spAutoFit/>
          </a:bodyPr>
          <a:lstStyle/>
          <a:p>
            <a:pPr marL="342900" indent="-342900">
              <a:buFont typeface="Arial" panose="020B0604020202020204" pitchFamily="34" charset="0"/>
              <a:buChar char="•"/>
            </a:pPr>
            <a:r>
              <a:rPr lang="en-US">
                <a:cs typeface="Aharoni" panose="020F0502020204030204" pitchFamily="2" charset="-79"/>
              </a:rPr>
              <a:t>Provide </a:t>
            </a:r>
            <a:r>
              <a:rPr lang="en-US"/>
              <a:t>a set of built-in evaluation metrics that can be used to evaluate the output of your LLM calls</a:t>
            </a:r>
            <a:endParaRPr lang="en-US">
              <a:cs typeface="Aharoni" panose="020F0502020204030204" pitchFamily="2" charset="-79"/>
            </a:endParaRPr>
          </a:p>
        </p:txBody>
      </p:sp>
    </p:spTree>
    <p:extLst>
      <p:ext uri="{BB962C8B-B14F-4D97-AF65-F5344CB8AC3E}">
        <p14:creationId xmlns:p14="http://schemas.microsoft.com/office/powerpoint/2010/main" val="3393515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3C74-1E78-3478-4F66-007E099EE17D}"/>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F9A9332-CBBC-5EC4-529F-3C8D254216CB}"/>
              </a:ext>
            </a:extLst>
          </p:cNvPr>
          <p:cNvSpPr/>
          <p:nvPr/>
        </p:nvSpPr>
        <p:spPr>
          <a:xfrm>
            <a:off x="329184" y="232059"/>
            <a:ext cx="2816352" cy="6309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FBD1CABF-3691-73CD-4A22-F03C8DD0E63D}"/>
              </a:ext>
            </a:extLst>
          </p:cNvPr>
          <p:cNvSpPr txBox="1"/>
          <p:nvPr/>
        </p:nvSpPr>
        <p:spPr>
          <a:xfrm>
            <a:off x="475488" y="347472"/>
            <a:ext cx="7031736" cy="400110"/>
          </a:xfrm>
          <a:prstGeom prst="rect">
            <a:avLst/>
          </a:prstGeom>
          <a:noFill/>
        </p:spPr>
        <p:txBody>
          <a:bodyPr wrap="square" rtlCol="0">
            <a:spAutoFit/>
          </a:bodyPr>
          <a:lstStyle/>
          <a:p>
            <a:r>
              <a:rPr lang="en-US" sz="2000">
                <a:cs typeface="Aharoni" panose="020F0502020204030204" pitchFamily="2" charset="-79"/>
              </a:rPr>
              <a:t>Opik(COMET) metrics</a:t>
            </a:r>
          </a:p>
        </p:txBody>
      </p:sp>
      <p:sp>
        <p:nvSpPr>
          <p:cNvPr id="4" name="TextBox 3">
            <a:extLst>
              <a:ext uri="{FF2B5EF4-FFF2-40B4-BE49-F238E27FC236}">
                <a16:creationId xmlns:a16="http://schemas.microsoft.com/office/drawing/2014/main" id="{AA800A9B-C106-6BEE-D9C3-99C415516188}"/>
              </a:ext>
            </a:extLst>
          </p:cNvPr>
          <p:cNvSpPr txBox="1"/>
          <p:nvPr/>
        </p:nvSpPr>
        <p:spPr>
          <a:xfrm>
            <a:off x="329184" y="1220575"/>
            <a:ext cx="8247888" cy="369332"/>
          </a:xfrm>
          <a:prstGeom prst="rect">
            <a:avLst/>
          </a:prstGeom>
          <a:noFill/>
        </p:spPr>
        <p:txBody>
          <a:bodyPr wrap="square" rtlCol="0">
            <a:spAutoFit/>
          </a:bodyPr>
          <a:lstStyle/>
          <a:p>
            <a:r>
              <a:rPr lang="en-US" b="1"/>
              <a:t>Evaluation metrics:</a:t>
            </a:r>
            <a:endParaRPr lang="en-US" b="1">
              <a:cs typeface="Aharoni" panose="020F0502020204030204" pitchFamily="2" charset="-79"/>
            </a:endParaRPr>
          </a:p>
        </p:txBody>
      </p:sp>
      <p:pic>
        <p:nvPicPr>
          <p:cNvPr id="8" name="Picture 7">
            <a:extLst>
              <a:ext uri="{FF2B5EF4-FFF2-40B4-BE49-F238E27FC236}">
                <a16:creationId xmlns:a16="http://schemas.microsoft.com/office/drawing/2014/main" id="{AA697D5A-D9B2-61B7-F512-F51A2E6788E1}"/>
              </a:ext>
            </a:extLst>
          </p:cNvPr>
          <p:cNvPicPr>
            <a:picLocks noChangeAspect="1"/>
          </p:cNvPicPr>
          <p:nvPr/>
        </p:nvPicPr>
        <p:blipFill>
          <a:blip r:embed="rId2"/>
          <a:stretch>
            <a:fillRect/>
          </a:stretch>
        </p:blipFill>
        <p:spPr>
          <a:xfrm>
            <a:off x="157464" y="2185040"/>
            <a:ext cx="5365512" cy="3224560"/>
          </a:xfrm>
          <a:prstGeom prst="rect">
            <a:avLst/>
          </a:prstGeom>
        </p:spPr>
      </p:pic>
      <p:pic>
        <p:nvPicPr>
          <p:cNvPr id="12" name="Picture 11">
            <a:extLst>
              <a:ext uri="{FF2B5EF4-FFF2-40B4-BE49-F238E27FC236}">
                <a16:creationId xmlns:a16="http://schemas.microsoft.com/office/drawing/2014/main" id="{F726EA74-87F6-AC1F-9DA5-B50B36CB53DD}"/>
              </a:ext>
            </a:extLst>
          </p:cNvPr>
          <p:cNvPicPr>
            <a:picLocks noChangeAspect="1"/>
          </p:cNvPicPr>
          <p:nvPr/>
        </p:nvPicPr>
        <p:blipFill>
          <a:blip r:embed="rId3"/>
          <a:stretch>
            <a:fillRect/>
          </a:stretch>
        </p:blipFill>
        <p:spPr>
          <a:xfrm>
            <a:off x="5753729" y="862995"/>
            <a:ext cx="5646685" cy="5541074"/>
          </a:xfrm>
          <a:prstGeom prst="rect">
            <a:avLst/>
          </a:prstGeom>
        </p:spPr>
      </p:pic>
    </p:spTree>
    <p:extLst>
      <p:ext uri="{BB962C8B-B14F-4D97-AF65-F5344CB8AC3E}">
        <p14:creationId xmlns:p14="http://schemas.microsoft.com/office/powerpoint/2010/main" val="869700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9EBAC-F1A1-0031-9752-C3B888240C9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D046FA1-2707-4E0B-7A18-F03AC80E866E}"/>
              </a:ext>
            </a:extLst>
          </p:cNvPr>
          <p:cNvSpPr/>
          <p:nvPr/>
        </p:nvSpPr>
        <p:spPr>
          <a:xfrm>
            <a:off x="329184" y="232059"/>
            <a:ext cx="2816352" cy="6309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E9B1A83E-A9A5-90C6-4D93-98A47FD45B8E}"/>
              </a:ext>
            </a:extLst>
          </p:cNvPr>
          <p:cNvSpPr txBox="1"/>
          <p:nvPr/>
        </p:nvSpPr>
        <p:spPr>
          <a:xfrm>
            <a:off x="475488" y="347472"/>
            <a:ext cx="7031736" cy="400110"/>
          </a:xfrm>
          <a:prstGeom prst="rect">
            <a:avLst/>
          </a:prstGeom>
          <a:noFill/>
        </p:spPr>
        <p:txBody>
          <a:bodyPr wrap="square" rtlCol="0">
            <a:spAutoFit/>
          </a:bodyPr>
          <a:lstStyle/>
          <a:p>
            <a:r>
              <a:rPr lang="en-US" sz="2000">
                <a:cs typeface="Aharoni" panose="020F0502020204030204" pitchFamily="2" charset="-79"/>
              </a:rPr>
              <a:t>Opik(COMET) metrics</a:t>
            </a:r>
          </a:p>
        </p:txBody>
      </p:sp>
      <p:sp>
        <p:nvSpPr>
          <p:cNvPr id="4" name="TextBox 3">
            <a:extLst>
              <a:ext uri="{FF2B5EF4-FFF2-40B4-BE49-F238E27FC236}">
                <a16:creationId xmlns:a16="http://schemas.microsoft.com/office/drawing/2014/main" id="{C9E171C3-8AE6-B145-0FEC-E8C8CCC73013}"/>
              </a:ext>
            </a:extLst>
          </p:cNvPr>
          <p:cNvSpPr txBox="1"/>
          <p:nvPr/>
        </p:nvSpPr>
        <p:spPr>
          <a:xfrm>
            <a:off x="329184" y="1220575"/>
            <a:ext cx="8247888" cy="646331"/>
          </a:xfrm>
          <a:prstGeom prst="rect">
            <a:avLst/>
          </a:prstGeom>
          <a:noFill/>
        </p:spPr>
        <p:txBody>
          <a:bodyPr wrap="square" rtlCol="0">
            <a:spAutoFit/>
          </a:bodyPr>
          <a:lstStyle/>
          <a:p>
            <a:r>
              <a:rPr lang="en-US" b="1"/>
              <a:t>Evaluation metrics:</a:t>
            </a:r>
          </a:p>
          <a:p>
            <a:pPr marL="285750" indent="-285750">
              <a:buFont typeface="Arial" panose="020B0604020202020204" pitchFamily="34" charset="0"/>
              <a:buChar char="•"/>
            </a:pPr>
            <a:r>
              <a:rPr lang="en-US">
                <a:cs typeface="Aharoni" panose="020F0502020204030204" pitchFamily="2" charset="-79"/>
              </a:rPr>
              <a:t>Hallucination: </a:t>
            </a:r>
          </a:p>
        </p:txBody>
      </p:sp>
      <p:sp>
        <p:nvSpPr>
          <p:cNvPr id="7" name="TextBox 6">
            <a:extLst>
              <a:ext uri="{FF2B5EF4-FFF2-40B4-BE49-F238E27FC236}">
                <a16:creationId xmlns:a16="http://schemas.microsoft.com/office/drawing/2014/main" id="{2162ED72-78EE-7D5C-CD96-937A9C2AD185}"/>
              </a:ext>
            </a:extLst>
          </p:cNvPr>
          <p:cNvSpPr txBox="1"/>
          <p:nvPr/>
        </p:nvSpPr>
        <p:spPr>
          <a:xfrm>
            <a:off x="765048" y="1866906"/>
            <a:ext cx="3944112" cy="1754326"/>
          </a:xfrm>
          <a:prstGeom prst="rect">
            <a:avLst/>
          </a:prstGeom>
          <a:noFill/>
        </p:spPr>
        <p:txBody>
          <a:bodyPr wrap="square" rtlCol="0">
            <a:spAutoFit/>
          </a:bodyPr>
          <a:lstStyle/>
          <a:p>
            <a:pPr marL="285750" indent="-285750">
              <a:buFont typeface="Arial" panose="020B0604020202020204" pitchFamily="34" charset="0"/>
              <a:buChar char="•"/>
            </a:pPr>
            <a:r>
              <a:rPr lang="en-US">
                <a:cs typeface="Aharoni" panose="020F0502020204030204" pitchFamily="2" charset="-79"/>
              </a:rPr>
              <a:t>Is LLM as a Judge method, use LLM to evaluate output of another LLM</a:t>
            </a:r>
          </a:p>
          <a:p>
            <a:pPr marL="285750" indent="-285750">
              <a:buFont typeface="Arial" panose="020B0604020202020204" pitchFamily="34" charset="0"/>
              <a:buChar char="•"/>
            </a:pPr>
            <a:endParaRPr lang="en-US">
              <a:cs typeface="Aharoni" panose="020F0502020204030204" pitchFamily="2" charset="-79"/>
            </a:endParaRPr>
          </a:p>
          <a:p>
            <a:pPr marL="285750" indent="-285750">
              <a:buFont typeface="Arial" panose="020B0604020202020204" pitchFamily="34" charset="0"/>
              <a:buChar char="•"/>
            </a:pPr>
            <a:r>
              <a:rPr lang="en-US">
                <a:cs typeface="Aharoni" panose="020F0502020204030204" pitchFamily="2" charset="-79"/>
              </a:rPr>
              <a:t>Default: Received input and output of LLM ➪ Score: between </a:t>
            </a:r>
            <a:r>
              <a:rPr lang="en-US" b="1">
                <a:cs typeface="Aharoni" panose="020F0502020204030204" pitchFamily="2" charset="-79"/>
              </a:rPr>
              <a:t>0</a:t>
            </a:r>
            <a:r>
              <a:rPr lang="en-US">
                <a:cs typeface="Aharoni" panose="020F0502020204030204" pitchFamily="2" charset="-79"/>
              </a:rPr>
              <a:t> and </a:t>
            </a:r>
            <a:r>
              <a:rPr lang="en-US" b="1">
                <a:cs typeface="Aharoni" panose="020F0502020204030204" pitchFamily="2" charset="-79"/>
              </a:rPr>
              <a:t>1</a:t>
            </a:r>
          </a:p>
          <a:p>
            <a:pPr marL="285750" indent="-285750">
              <a:buFont typeface="Arial" panose="020B0604020202020204" pitchFamily="34" charset="0"/>
              <a:buChar char="•"/>
            </a:pPr>
            <a:endParaRPr lang="en-US" b="1">
              <a:cs typeface="Aharoni" panose="020F0502020204030204" pitchFamily="2" charset="-79"/>
            </a:endParaRPr>
          </a:p>
        </p:txBody>
      </p:sp>
      <p:pic>
        <p:nvPicPr>
          <p:cNvPr id="10" name="Picture 9">
            <a:extLst>
              <a:ext uri="{FF2B5EF4-FFF2-40B4-BE49-F238E27FC236}">
                <a16:creationId xmlns:a16="http://schemas.microsoft.com/office/drawing/2014/main" id="{2D016381-0CD7-7275-FAC4-77D15CB38985}"/>
              </a:ext>
            </a:extLst>
          </p:cNvPr>
          <p:cNvPicPr>
            <a:picLocks noChangeAspect="1"/>
          </p:cNvPicPr>
          <p:nvPr/>
        </p:nvPicPr>
        <p:blipFill>
          <a:blip r:embed="rId2"/>
          <a:stretch>
            <a:fillRect/>
          </a:stretch>
        </p:blipFill>
        <p:spPr>
          <a:xfrm>
            <a:off x="5391564" y="1183998"/>
            <a:ext cx="6489540" cy="4885661"/>
          </a:xfrm>
          <a:prstGeom prst="rect">
            <a:avLst/>
          </a:prstGeom>
        </p:spPr>
      </p:pic>
    </p:spTree>
    <p:extLst>
      <p:ext uri="{BB962C8B-B14F-4D97-AF65-F5344CB8AC3E}">
        <p14:creationId xmlns:p14="http://schemas.microsoft.com/office/powerpoint/2010/main" val="2121404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D5AEA-6C4B-E440-4EF8-EDFD216BB8F6}"/>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28C7219-ACC7-D793-7E64-9E3726F73F1B}"/>
              </a:ext>
            </a:extLst>
          </p:cNvPr>
          <p:cNvSpPr/>
          <p:nvPr/>
        </p:nvSpPr>
        <p:spPr>
          <a:xfrm>
            <a:off x="329184" y="232059"/>
            <a:ext cx="2816352" cy="6309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A80ECD59-009B-B70D-6A33-15849A65DEF0}"/>
              </a:ext>
            </a:extLst>
          </p:cNvPr>
          <p:cNvSpPr txBox="1"/>
          <p:nvPr/>
        </p:nvSpPr>
        <p:spPr>
          <a:xfrm>
            <a:off x="475488" y="347472"/>
            <a:ext cx="7031736" cy="400110"/>
          </a:xfrm>
          <a:prstGeom prst="rect">
            <a:avLst/>
          </a:prstGeom>
          <a:noFill/>
        </p:spPr>
        <p:txBody>
          <a:bodyPr wrap="square" rtlCol="0">
            <a:spAutoFit/>
          </a:bodyPr>
          <a:lstStyle/>
          <a:p>
            <a:r>
              <a:rPr lang="en-US" sz="2000">
                <a:cs typeface="Aharoni" panose="020F0502020204030204" pitchFamily="2" charset="-79"/>
              </a:rPr>
              <a:t>Opik(COMET) metrics</a:t>
            </a:r>
          </a:p>
        </p:txBody>
      </p:sp>
      <p:sp>
        <p:nvSpPr>
          <p:cNvPr id="4" name="TextBox 3">
            <a:extLst>
              <a:ext uri="{FF2B5EF4-FFF2-40B4-BE49-F238E27FC236}">
                <a16:creationId xmlns:a16="http://schemas.microsoft.com/office/drawing/2014/main" id="{7B7516AC-EEC5-3AC4-C63C-20B63B21227D}"/>
              </a:ext>
            </a:extLst>
          </p:cNvPr>
          <p:cNvSpPr txBox="1"/>
          <p:nvPr/>
        </p:nvSpPr>
        <p:spPr>
          <a:xfrm>
            <a:off x="329184" y="1220575"/>
            <a:ext cx="8247888" cy="646331"/>
          </a:xfrm>
          <a:prstGeom prst="rect">
            <a:avLst/>
          </a:prstGeom>
          <a:noFill/>
        </p:spPr>
        <p:txBody>
          <a:bodyPr wrap="square" rtlCol="0">
            <a:spAutoFit/>
          </a:bodyPr>
          <a:lstStyle/>
          <a:p>
            <a:r>
              <a:rPr lang="en-US" b="1"/>
              <a:t>Evaluation metrics:</a:t>
            </a:r>
          </a:p>
          <a:p>
            <a:pPr marL="285750" indent="-285750">
              <a:buFont typeface="Arial" panose="020B0604020202020204" pitchFamily="34" charset="0"/>
              <a:buChar char="•"/>
            </a:pPr>
            <a:r>
              <a:rPr lang="en-US"/>
              <a:t>Answer relevance</a:t>
            </a:r>
            <a:r>
              <a:rPr lang="en-US">
                <a:cs typeface="Aharoni" panose="020F0502020204030204" pitchFamily="2" charset="-79"/>
              </a:rPr>
              <a:t>: </a:t>
            </a:r>
          </a:p>
        </p:txBody>
      </p:sp>
      <p:sp>
        <p:nvSpPr>
          <p:cNvPr id="7" name="TextBox 6">
            <a:extLst>
              <a:ext uri="{FF2B5EF4-FFF2-40B4-BE49-F238E27FC236}">
                <a16:creationId xmlns:a16="http://schemas.microsoft.com/office/drawing/2014/main" id="{AA4A6AF6-4AF6-3A8E-ED7F-F2138291502F}"/>
              </a:ext>
            </a:extLst>
          </p:cNvPr>
          <p:cNvSpPr txBox="1"/>
          <p:nvPr/>
        </p:nvSpPr>
        <p:spPr>
          <a:xfrm>
            <a:off x="765048" y="1866906"/>
            <a:ext cx="4236720" cy="3416320"/>
          </a:xfrm>
          <a:prstGeom prst="rect">
            <a:avLst/>
          </a:prstGeom>
          <a:noFill/>
        </p:spPr>
        <p:txBody>
          <a:bodyPr wrap="square" rtlCol="0">
            <a:spAutoFit/>
          </a:bodyPr>
          <a:lstStyle/>
          <a:p>
            <a:pPr marL="285750" indent="-285750">
              <a:buFont typeface="Arial" panose="020B0604020202020204" pitchFamily="34" charset="0"/>
              <a:buChar char="•"/>
            </a:pPr>
            <a:r>
              <a:rPr lang="en-US">
                <a:cs typeface="Aharoni" panose="020F0502020204030204" pitchFamily="2" charset="-79"/>
              </a:rPr>
              <a:t>Is LLM as a Judge method, use LLM to evaluate output of another LLM</a:t>
            </a:r>
          </a:p>
          <a:p>
            <a:pPr marL="285750" indent="-285750">
              <a:buFont typeface="Arial" panose="020B0604020202020204" pitchFamily="34" charset="0"/>
              <a:buChar char="•"/>
            </a:pPr>
            <a:endParaRPr lang="en-US">
              <a:cs typeface="Aharoni" panose="020F0502020204030204" pitchFamily="2" charset="-79"/>
            </a:endParaRPr>
          </a:p>
          <a:p>
            <a:pPr marL="285750" indent="-285750">
              <a:buFont typeface="Arial" panose="020B0604020202020204" pitchFamily="34" charset="0"/>
              <a:buChar char="•"/>
            </a:pPr>
            <a:r>
              <a:rPr lang="en-US"/>
              <a:t>Unlike the Hallucination metric, the Answer Relevance metric focuses on the appropriateness and pertinence of the response rather than factual accuracy</a:t>
            </a:r>
            <a:r>
              <a:rPr lang="en-US" sz="1200"/>
              <a:t>.(</a:t>
            </a:r>
            <a:r>
              <a:rPr lang="vi-VN" sz="1200"/>
              <a:t>Không giống như chỉ số ảo giác, chỉ số tính liên quan của câu trả lời tập trung vào tính phù hợp và liên quan của câu trả lời hơn là độ chính xác thực tế.</a:t>
            </a:r>
            <a:r>
              <a:rPr lang="en-US" sz="1200"/>
              <a:t>)</a:t>
            </a:r>
          </a:p>
          <a:p>
            <a:pPr marL="285750" indent="-285750">
              <a:buFont typeface="Arial" panose="020B0604020202020204" pitchFamily="34" charset="0"/>
              <a:buChar char="•"/>
            </a:pPr>
            <a:endParaRPr lang="en-US" b="1">
              <a:cs typeface="Aharoni" panose="020F0502020204030204" pitchFamily="2" charset="-79"/>
            </a:endParaRPr>
          </a:p>
          <a:p>
            <a:pPr marL="285750" indent="-285750">
              <a:buFont typeface="Arial" panose="020B0604020202020204" pitchFamily="34" charset="0"/>
              <a:buChar char="•"/>
            </a:pPr>
            <a:endParaRPr lang="en-US" b="1">
              <a:cs typeface="Aharoni" panose="020F0502020204030204" pitchFamily="2" charset="-79"/>
            </a:endParaRPr>
          </a:p>
        </p:txBody>
      </p:sp>
      <p:pic>
        <p:nvPicPr>
          <p:cNvPr id="10" name="Picture 9">
            <a:extLst>
              <a:ext uri="{FF2B5EF4-FFF2-40B4-BE49-F238E27FC236}">
                <a16:creationId xmlns:a16="http://schemas.microsoft.com/office/drawing/2014/main" id="{55A3739A-26C1-BD95-4DA2-6F271992C24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14502" y="60483"/>
            <a:ext cx="6302010" cy="6797517"/>
          </a:xfrm>
          <a:prstGeom prst="rect">
            <a:avLst/>
          </a:prstGeom>
        </p:spPr>
      </p:pic>
    </p:spTree>
    <p:extLst>
      <p:ext uri="{BB962C8B-B14F-4D97-AF65-F5344CB8AC3E}">
        <p14:creationId xmlns:p14="http://schemas.microsoft.com/office/powerpoint/2010/main" val="694245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C22C6-043C-48D0-C38F-A594C131F5E6}"/>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649C164-4ADB-9769-FB0C-6451C69A91E6}"/>
              </a:ext>
            </a:extLst>
          </p:cNvPr>
          <p:cNvSpPr/>
          <p:nvPr/>
        </p:nvSpPr>
        <p:spPr>
          <a:xfrm>
            <a:off x="329184" y="232059"/>
            <a:ext cx="3063240" cy="6309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4E7A57D2-3272-2158-7EAF-74087212B3AF}"/>
              </a:ext>
            </a:extLst>
          </p:cNvPr>
          <p:cNvSpPr txBox="1"/>
          <p:nvPr/>
        </p:nvSpPr>
        <p:spPr>
          <a:xfrm>
            <a:off x="475488" y="347472"/>
            <a:ext cx="7031736" cy="400110"/>
          </a:xfrm>
          <a:prstGeom prst="rect">
            <a:avLst/>
          </a:prstGeom>
          <a:noFill/>
        </p:spPr>
        <p:txBody>
          <a:bodyPr wrap="square" rtlCol="0">
            <a:spAutoFit/>
          </a:bodyPr>
          <a:lstStyle/>
          <a:p>
            <a:r>
              <a:rPr lang="en-US" sz="2000">
                <a:cs typeface="Aharoni" panose="020F0502020204030204" pitchFamily="2" charset="-79"/>
              </a:rPr>
              <a:t>How to apply to project?</a:t>
            </a:r>
          </a:p>
        </p:txBody>
      </p:sp>
      <p:sp>
        <p:nvSpPr>
          <p:cNvPr id="4" name="TextBox 3">
            <a:extLst>
              <a:ext uri="{FF2B5EF4-FFF2-40B4-BE49-F238E27FC236}">
                <a16:creationId xmlns:a16="http://schemas.microsoft.com/office/drawing/2014/main" id="{753C7EEE-2224-88B2-6CEF-030E573472CE}"/>
              </a:ext>
            </a:extLst>
          </p:cNvPr>
          <p:cNvSpPr txBox="1"/>
          <p:nvPr/>
        </p:nvSpPr>
        <p:spPr>
          <a:xfrm>
            <a:off x="329184" y="1220575"/>
            <a:ext cx="1406310" cy="369332"/>
          </a:xfrm>
          <a:prstGeom prst="rect">
            <a:avLst/>
          </a:prstGeom>
          <a:noFill/>
        </p:spPr>
        <p:txBody>
          <a:bodyPr wrap="square" rtlCol="0">
            <a:spAutoFit/>
          </a:bodyPr>
          <a:lstStyle/>
          <a:p>
            <a:r>
              <a:rPr lang="en-US">
                <a:cs typeface="Aharoni" panose="020F0502020204030204" pitchFamily="2" charset="-79"/>
              </a:rPr>
              <a:t>Apply to:</a:t>
            </a:r>
          </a:p>
        </p:txBody>
      </p:sp>
      <p:sp>
        <p:nvSpPr>
          <p:cNvPr id="7" name="TextBox 6">
            <a:extLst>
              <a:ext uri="{FF2B5EF4-FFF2-40B4-BE49-F238E27FC236}">
                <a16:creationId xmlns:a16="http://schemas.microsoft.com/office/drawing/2014/main" id="{3E64177D-CB6D-3690-80F8-07CE1B481500}"/>
              </a:ext>
            </a:extLst>
          </p:cNvPr>
          <p:cNvSpPr txBox="1"/>
          <p:nvPr/>
        </p:nvSpPr>
        <p:spPr>
          <a:xfrm>
            <a:off x="765048" y="1866906"/>
            <a:ext cx="3312430" cy="1754326"/>
          </a:xfrm>
          <a:prstGeom prst="rect">
            <a:avLst/>
          </a:prstGeom>
          <a:noFill/>
        </p:spPr>
        <p:txBody>
          <a:bodyPr wrap="square" rtlCol="0">
            <a:spAutoFit/>
          </a:bodyPr>
          <a:lstStyle/>
          <a:p>
            <a:pPr marL="285750" indent="-285750">
              <a:buFont typeface="Arial" panose="020B0604020202020204" pitchFamily="34" charset="0"/>
              <a:buChar char="•"/>
            </a:pPr>
            <a:r>
              <a:rPr lang="en-US">
                <a:cs typeface="Aharoni" panose="020F0502020204030204" pitchFamily="2" charset="-79"/>
              </a:rPr>
              <a:t>Gen_key agent</a:t>
            </a:r>
          </a:p>
          <a:p>
            <a:endParaRPr lang="en-US">
              <a:cs typeface="Aharoni" panose="020F0502020204030204" pitchFamily="2" charset="-79"/>
            </a:endParaRPr>
          </a:p>
          <a:p>
            <a:pPr marL="285750" indent="-285750">
              <a:buFont typeface="Arial" panose="020B0604020202020204" pitchFamily="34" charset="0"/>
              <a:buChar char="•"/>
            </a:pPr>
            <a:r>
              <a:rPr lang="en-US">
                <a:cs typeface="Aharoni" panose="020F0502020204030204" pitchFamily="2" charset="-79"/>
              </a:rPr>
              <a:t>Gen_similarity_key agent</a:t>
            </a:r>
          </a:p>
          <a:p>
            <a:pPr marL="285750" indent="-285750">
              <a:buFont typeface="Arial" panose="020B0604020202020204" pitchFamily="34" charset="0"/>
              <a:buChar char="•"/>
            </a:pPr>
            <a:endParaRPr lang="en-US">
              <a:cs typeface="Aharoni" panose="020F0502020204030204" pitchFamily="2" charset="-79"/>
            </a:endParaRPr>
          </a:p>
          <a:p>
            <a:pPr marL="285750" indent="-285750">
              <a:buFont typeface="Arial" panose="020B0604020202020204" pitchFamily="34" charset="0"/>
              <a:buChar char="•"/>
            </a:pPr>
            <a:r>
              <a:rPr lang="en-US">
                <a:cs typeface="Aharoni" panose="020F0502020204030204" pitchFamily="2" charset="-79"/>
              </a:rPr>
              <a:t>Search agent</a:t>
            </a:r>
          </a:p>
          <a:p>
            <a:pPr marL="285750" indent="-285750">
              <a:buFont typeface="Arial" panose="020B0604020202020204" pitchFamily="34" charset="0"/>
              <a:buChar char="•"/>
            </a:pPr>
            <a:endParaRPr lang="en-US" b="1">
              <a:cs typeface="Aharoni" panose="020F0502020204030204" pitchFamily="2" charset="-79"/>
            </a:endParaRPr>
          </a:p>
        </p:txBody>
      </p:sp>
      <p:sp>
        <p:nvSpPr>
          <p:cNvPr id="2" name="TextBox 1">
            <a:extLst>
              <a:ext uri="{FF2B5EF4-FFF2-40B4-BE49-F238E27FC236}">
                <a16:creationId xmlns:a16="http://schemas.microsoft.com/office/drawing/2014/main" id="{261B6A59-EFA8-76F4-2B84-A9F31C60A364}"/>
              </a:ext>
            </a:extLst>
          </p:cNvPr>
          <p:cNvSpPr txBox="1"/>
          <p:nvPr/>
        </p:nvSpPr>
        <p:spPr>
          <a:xfrm>
            <a:off x="7010333" y="1220575"/>
            <a:ext cx="2075007" cy="369332"/>
          </a:xfrm>
          <a:prstGeom prst="rect">
            <a:avLst/>
          </a:prstGeom>
          <a:noFill/>
        </p:spPr>
        <p:txBody>
          <a:bodyPr wrap="square" rtlCol="0">
            <a:spAutoFit/>
          </a:bodyPr>
          <a:lstStyle/>
          <a:p>
            <a:r>
              <a:rPr lang="en-US">
                <a:cs typeface="Aharoni" panose="020F0502020204030204" pitchFamily="2" charset="-79"/>
              </a:rPr>
              <a:t>Evaluate System?</a:t>
            </a:r>
          </a:p>
        </p:txBody>
      </p:sp>
      <p:sp>
        <p:nvSpPr>
          <p:cNvPr id="6" name="TextBox 5">
            <a:extLst>
              <a:ext uri="{FF2B5EF4-FFF2-40B4-BE49-F238E27FC236}">
                <a16:creationId xmlns:a16="http://schemas.microsoft.com/office/drawing/2014/main" id="{8687C5DB-BE7D-2299-CB4C-79ED6C534F77}"/>
              </a:ext>
            </a:extLst>
          </p:cNvPr>
          <p:cNvSpPr txBox="1"/>
          <p:nvPr/>
        </p:nvSpPr>
        <p:spPr>
          <a:xfrm>
            <a:off x="7010333" y="1866906"/>
            <a:ext cx="3312430" cy="1477328"/>
          </a:xfrm>
          <a:prstGeom prst="rect">
            <a:avLst/>
          </a:prstGeom>
          <a:noFill/>
        </p:spPr>
        <p:txBody>
          <a:bodyPr wrap="square" rtlCol="0">
            <a:spAutoFit/>
          </a:bodyPr>
          <a:lstStyle/>
          <a:p>
            <a:pPr marL="285750" indent="-285750">
              <a:buFont typeface="Arial" panose="020B0604020202020204" pitchFamily="34" charset="0"/>
              <a:buChar char="•"/>
            </a:pPr>
            <a:r>
              <a:rPr lang="en-US">
                <a:cs typeface="Aharoni" panose="020F0502020204030204" pitchFamily="2" charset="-79"/>
              </a:rPr>
              <a:t>Benchmark on testset:</a:t>
            </a:r>
          </a:p>
          <a:p>
            <a:pPr marL="742950" lvl="1" indent="-285750">
              <a:buFont typeface="Arial" panose="020B0604020202020204" pitchFamily="34" charset="0"/>
              <a:buChar char="•"/>
            </a:pPr>
            <a:r>
              <a:rPr lang="en-US">
                <a:cs typeface="Aharoni" panose="020F0502020204030204" pitchFamily="2" charset="-79"/>
              </a:rPr>
              <a:t>Hallucination</a:t>
            </a:r>
          </a:p>
          <a:p>
            <a:pPr marL="742950" lvl="1" indent="-285750">
              <a:buFont typeface="Arial" panose="020B0604020202020204" pitchFamily="34" charset="0"/>
              <a:buChar char="•"/>
            </a:pPr>
            <a:r>
              <a:rPr lang="en-US">
                <a:cs typeface="Aharoni" panose="020F0502020204030204" pitchFamily="2" charset="-79"/>
              </a:rPr>
              <a:t>Answer Relevance</a:t>
            </a:r>
          </a:p>
          <a:p>
            <a:pPr marL="742950" lvl="1" indent="-285750">
              <a:buFont typeface="Arial" panose="020B0604020202020204" pitchFamily="34" charset="0"/>
              <a:buChar char="•"/>
            </a:pPr>
            <a:r>
              <a:rPr lang="en-US">
                <a:cs typeface="Aharoni" panose="020F0502020204030204" pitchFamily="2" charset="-79"/>
              </a:rPr>
              <a:t>Context Recall</a:t>
            </a:r>
          </a:p>
          <a:p>
            <a:pPr marL="742950" lvl="1" indent="-285750">
              <a:buFont typeface="Arial" panose="020B0604020202020204" pitchFamily="34" charset="0"/>
              <a:buChar char="•"/>
            </a:pPr>
            <a:r>
              <a:rPr lang="en-US">
                <a:cs typeface="Aharoni" panose="020F0502020204030204" pitchFamily="2" charset="-79"/>
              </a:rPr>
              <a:t>Context Precision</a:t>
            </a:r>
          </a:p>
        </p:txBody>
      </p:sp>
    </p:spTree>
    <p:extLst>
      <p:ext uri="{BB962C8B-B14F-4D97-AF65-F5344CB8AC3E}">
        <p14:creationId xmlns:p14="http://schemas.microsoft.com/office/powerpoint/2010/main" val="3020744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4385-BF45-C2D3-A9DA-EF87501A26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9EF5C18-14C3-3B3A-29F2-6EF0CDD24EBF}"/>
              </a:ext>
            </a:extLst>
          </p:cNvPr>
          <p:cNvSpPr txBox="1"/>
          <p:nvPr/>
        </p:nvSpPr>
        <p:spPr>
          <a:xfrm>
            <a:off x="2580132" y="3028890"/>
            <a:ext cx="7031736" cy="523220"/>
          </a:xfrm>
          <a:prstGeom prst="rect">
            <a:avLst/>
          </a:prstGeom>
          <a:noFill/>
        </p:spPr>
        <p:txBody>
          <a:bodyPr wrap="square" rtlCol="0">
            <a:spAutoFit/>
          </a:bodyPr>
          <a:lstStyle/>
          <a:p>
            <a:pPr algn="ctr"/>
            <a:r>
              <a:rPr lang="en-US" sz="2800" b="1">
                <a:effectLst>
                  <a:outerShdw blurRad="38100" dist="38100" dir="2700000" algn="tl">
                    <a:srgbClr val="000000">
                      <a:alpha val="43137"/>
                    </a:srgbClr>
                  </a:outerShdw>
                </a:effectLst>
                <a:cs typeface="Aharoni" panose="020F0502020204030204" pitchFamily="2" charset="-79"/>
              </a:rPr>
              <a:t>End.</a:t>
            </a:r>
          </a:p>
        </p:txBody>
      </p:sp>
    </p:spTree>
    <p:extLst>
      <p:ext uri="{BB962C8B-B14F-4D97-AF65-F5344CB8AC3E}">
        <p14:creationId xmlns:p14="http://schemas.microsoft.com/office/powerpoint/2010/main" val="3300238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TotalTime>
  <Words>217</Words>
  <Application>Microsoft Office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Aharoni</vt: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quangvannguyen19pt@outlook.com</dc:creator>
  <cp:lastModifiedBy>quangvannguyen19pt@outlook.com</cp:lastModifiedBy>
  <cp:revision>9</cp:revision>
  <dcterms:created xsi:type="dcterms:W3CDTF">2025-08-12T14:13:08Z</dcterms:created>
  <dcterms:modified xsi:type="dcterms:W3CDTF">2025-08-13T15:32:06Z</dcterms:modified>
</cp:coreProperties>
</file>